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ntes de la demo" id="{74334CCF-743E-0B69-F30F-7656ED9D91DC}">
          <p14:sldIdLst>
            <p14:sldId id="268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Demo en vivo" id="{DB8CC80D-C5DB-6508-0524-5003D74CA194}">
          <p14:sldIdLst>
            <p14:sldId id="264"/>
          </p14:sldIdLst>
        </p14:section>
        <p14:section name="Después de la demo" id="{EDDAF8C7-461F-2C8A-D3B7-011579E55A6C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56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3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10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0:20. Un sistema de facturación, un POS o un Excel acumulan años de datos. Pregunta puente: ¿y qué hacen con ellos?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Datos dispersos y sucios, nadie que los analice, y nadie sabe si son confiables. Pregunta puente: ¿una IA lo resuelve?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Los agentes suenan seguros pero no muestran de dónde sale la cifra. Pregunta puente: ¿cómo confiar?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Cada hecho trae su SQL y se re-ejecuta contra los datos antes de mostrarse. Si no coincide, se marca como no verificado. Pregunta puente: ¿quién hace el trabajo?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0:35. Como un pequeño departamento de datos: coordinador + Datos, Analista y Científico ML. Los tres entregan sus resultados a un Validador que re-ejecuta el SQL de cada hecho. Hecho en BoxLang AI con 29 herramientas.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Anonimiza antes de la IA; mide calidad sin gastar IA; verifica re-ejecutando el SQL; sella los hechos en una cadena de hashes.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0:20. Cinco pasos: subir el Excel sucio, lanzar la misión, respuesta verificada, momento VeriMine (el resumen no cuadra con el detalle), informe. Decir: Veámoslo.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muestra mientras corre la misión (2-4 min). Hablar: coordinador con memoria + 3 especialistas, 29 herramientas, salida estructurada a JSON, verificador que re-ejecuta el SQL, reintentos automáticos y fallback entre modelos.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0:35. Calidad del Excel de prueba de 33 a 62 tras la limpieza; Pearson, Sharpe y covarianza coinciden con Python; 18 llamadas por misión frente a 29. Resultados con datos de 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No decir 'estamos certificados'. Decir: aplicamos controles técnicos del Anexo A al producto; la certificación audita procesos de una organización.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Challenge 06 cubierto: hechos separados de interpretaciones. Siguiente: más conectores, RAG y certificación real. Cerrar con la pregunta al jurado.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VeriMine · Don't trust. Verify.</a:t>
            </a:r>
            <a:endParaRPr lang="en-US" sz="11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38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74955D43-48FF-6F9D-8DA1-127A0F0F1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966" y="0"/>
            <a:ext cx="12057806" cy="68247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12859" y="954722"/>
            <a:ext cx="838814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HACKATHON ANIA × ORTUS · CHALLENGE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859" y="1388705"/>
            <a:ext cx="7778555" cy="143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612859" y="3027263"/>
            <a:ext cx="1944639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12859" y="3442934"/>
            <a:ext cx="7778555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Don’t trust. Verify.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12859" y="3940750"/>
            <a:ext cx="838814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DATOS · EVIDENCIA · DECISIONES</a:t>
            </a:r>
            <a:endParaRPr lang="en-US" sz="1200" dirty="0"/>
          </a:p>
        </p:txBody>
      </p:sp>
      <p:pic>
        <p:nvPicPr>
          <p:cNvPr id="8" name="Logo VeriMine" descr="Logo VeriMine">
            <a:extLst>
              <a:ext uri="{FF2B5EF4-FFF2-40B4-BE49-F238E27FC236}">
                <a16:creationId xmlns:a16="http://schemas.microsoft.com/office/drawing/2014/main" id="{D26711F8-6A59-D1CA-B21D-5CA270A4B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82" y="1469649"/>
            <a:ext cx="4434087" cy="11421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Exo" panose="020B0604020202020204" charset="0"/>
              </a:rPr>
              <a:t>Las empresas ya tienen datos</a:t>
            </a:r>
            <a:endParaRPr lang="en-US" sz="3600" dirty="0">
              <a:latin typeface="Exo" panose="020B0604020202020204" charset="0"/>
            </a:endParaRPr>
          </a:p>
        </p:txBody>
      </p:sp>
      <p:sp>
        <p:nvSpPr>
          <p:cNvPr id="4" name="Texto"/>
          <p:cNvSpPr txBox="1"/>
          <p:nvPr/>
        </p:nvSpPr>
        <p:spPr>
          <a:xfrm>
            <a:off x="548640" y="17373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Un sistema de facturación, un punto de venta o un Excel guardan años de ventas, clientes, inventario y cobranza.</a:t>
            </a:r>
            <a:endParaRPr lang="en-US" sz="2400" dirty="0"/>
          </a:p>
        </p:txBody>
      </p:sp>
      <p:sp>
        <p:nvSpPr>
          <p:cNvPr id="5" name="Tarjeta"/>
          <p:cNvSpPr/>
          <p:nvPr/>
        </p:nvSpPr>
        <p:spPr>
          <a:xfrm>
            <a:off x="6309360" y="1737360"/>
            <a:ext cx="25603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cono Ventas" descr="Vent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011680"/>
            <a:ext cx="731520" cy="731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0936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Ventas</a:t>
            </a:r>
            <a:endParaRPr lang="en-US" sz="2200" dirty="0"/>
          </a:p>
        </p:txBody>
      </p:sp>
      <p:sp>
        <p:nvSpPr>
          <p:cNvPr id="8" name="Tarjeta"/>
          <p:cNvSpPr/>
          <p:nvPr/>
        </p:nvSpPr>
        <p:spPr>
          <a:xfrm>
            <a:off x="9098280" y="1737360"/>
            <a:ext cx="25603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9" name="Icono Clientes" descr="Client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2011680"/>
            <a:ext cx="731520" cy="7315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09828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Clientes</a:t>
            </a:r>
            <a:endParaRPr lang="en-US" sz="2200" dirty="0"/>
          </a:p>
        </p:txBody>
      </p:sp>
      <p:sp>
        <p:nvSpPr>
          <p:cNvPr id="11" name="Tarjeta"/>
          <p:cNvSpPr/>
          <p:nvPr/>
        </p:nvSpPr>
        <p:spPr>
          <a:xfrm>
            <a:off x="6309360" y="3749040"/>
            <a:ext cx="25603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2" name="Icono Inventario" descr="Inventari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4023360"/>
            <a:ext cx="731520" cy="7315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309360" y="4892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Inventario</a:t>
            </a:r>
            <a:endParaRPr lang="en-US" sz="2200" dirty="0"/>
          </a:p>
        </p:txBody>
      </p:sp>
      <p:sp>
        <p:nvSpPr>
          <p:cNvPr id="14" name="Tarjeta"/>
          <p:cNvSpPr/>
          <p:nvPr/>
        </p:nvSpPr>
        <p:spPr>
          <a:xfrm>
            <a:off x="9098280" y="3749040"/>
            <a:ext cx="25603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5" name="Icono Cobranza" descr="Cobranz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80" y="4023360"/>
            <a:ext cx="731520" cy="7315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098280" y="4892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Cobranza</a:t>
            </a:r>
            <a:endParaRPr lang="en-US" sz="2200" dirty="0"/>
          </a:p>
        </p:txBody>
      </p:sp>
      <p:sp>
        <p:nvSpPr>
          <p:cNvPr id="17" name="Puente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→  ¿Y qué hacen con ellos?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Exo" panose="020B0604020202020204" charset="0"/>
              </a:rPr>
              <a:t>Tienen datos, pero no respuestas</a:t>
            </a:r>
            <a:endParaRPr lang="en-US" sz="3600" dirty="0">
              <a:latin typeface="Exo" panose="020B0604020202020204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Una empresa mediana acumula años de datos, pero termina decidiendo por intuición.</a:t>
            </a:r>
            <a:endParaRPr lang="en-US" sz="2200" dirty="0"/>
          </a:p>
        </p:txBody>
      </p:sp>
      <p:sp>
        <p:nvSpPr>
          <p:cNvPr id="5" name="Tarjeta"/>
          <p:cNvSpPr/>
          <p:nvPr/>
        </p:nvSpPr>
        <p:spPr>
          <a:xfrm>
            <a:off x="548640" y="2377440"/>
            <a:ext cx="35661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cono Datos sucios y dispersos" descr="Datos sucios y dispers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97480"/>
            <a:ext cx="731520" cy="731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Datos sucios y dispersos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41605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Excel, CSV y bases distintas, con errores y duplicados.</a:t>
            </a:r>
            <a:endParaRPr lang="en-US" sz="1700" dirty="0"/>
          </a:p>
        </p:txBody>
      </p:sp>
      <p:sp>
        <p:nvSpPr>
          <p:cNvPr id="9" name="Tarjeta"/>
          <p:cNvSpPr/>
          <p:nvPr/>
        </p:nvSpPr>
        <p:spPr>
          <a:xfrm>
            <a:off x="4311396" y="2377440"/>
            <a:ext cx="35661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0" name="Icono Nadie que los analice" descr="Nadie que los anal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436" y="2697480"/>
            <a:ext cx="731520" cy="7315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631436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Nadie que los analice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4631436" y="41605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Un analista de datos es caro y casi siempre falta.</a:t>
            </a:r>
            <a:endParaRPr lang="en-US" sz="1700" dirty="0"/>
          </a:p>
        </p:txBody>
      </p:sp>
      <p:sp>
        <p:nvSpPr>
          <p:cNvPr id="13" name="Tarjeta"/>
          <p:cNvSpPr/>
          <p:nvPr/>
        </p:nvSpPr>
        <p:spPr>
          <a:xfrm>
            <a:off x="8074152" y="2377440"/>
            <a:ext cx="35661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4" name="Icono Datos poco fiables" descr="Datos poco fiabl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2697480"/>
            <a:ext cx="731520" cy="7315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394192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Datos poco fiables</a:t>
            </a:r>
            <a:endParaRPr lang="en-US" sz="2200" dirty="0"/>
          </a:p>
        </p:txBody>
      </p:sp>
      <p:sp>
        <p:nvSpPr>
          <p:cNvPr id="16" name="Text 10"/>
          <p:cNvSpPr txBox="1"/>
          <p:nvPr/>
        </p:nvSpPr>
        <p:spPr>
          <a:xfrm>
            <a:off x="8394192" y="41605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Nadie revisa la calidad hasta que una cifra no cuadra.</a:t>
            </a:r>
            <a:endParaRPr lang="en-US" sz="1700" dirty="0"/>
          </a:p>
        </p:txBody>
      </p:sp>
      <p:sp>
        <p:nvSpPr>
          <p:cNvPr id="17" name="Puente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→  ¿Una IA lo resuelve?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Exo" panose="020B0604020202020204" charset="0"/>
              </a:rPr>
              <a:t>Una IA suena convincente… aunque invente el número</a:t>
            </a:r>
            <a:endParaRPr lang="en-US" sz="3600" dirty="0">
              <a:latin typeface="Exo" panose="020B0604020202020204" charset="0"/>
            </a:endParaRPr>
          </a:p>
        </p:txBody>
      </p:sp>
      <p:sp>
        <p:nvSpPr>
          <p:cNvPr id="4" name="Texto"/>
          <p:cNvSpPr txBox="1"/>
          <p:nvPr/>
        </p:nvSpPr>
        <p:spPr>
          <a:xfrm>
            <a:off x="548640" y="182880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Responde con seguridad, pero no muestra de dónde saca las cifras. Así no sirve para decidir en una junta.</a:t>
            </a:r>
            <a:endParaRPr lang="en-US" sz="2400" dirty="0"/>
          </a:p>
        </p:txBody>
      </p:sp>
      <p:sp>
        <p:nvSpPr>
          <p:cNvPr id="5" name="Tarjeta"/>
          <p:cNvSpPr/>
          <p:nvPr/>
        </p:nvSpPr>
        <p:spPr>
          <a:xfrm>
            <a:off x="6400800" y="1737360"/>
            <a:ext cx="5212080" cy="37490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 txBox="1"/>
          <p:nvPr/>
        </p:nvSpPr>
        <p:spPr>
          <a:xfrm>
            <a:off x="676656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EJEMPLO</a:t>
            </a:r>
            <a:endParaRPr lang="en-US" sz="1200" dirty="0"/>
          </a:p>
        </p:txBody>
      </p:sp>
      <p:sp>
        <p:nvSpPr>
          <p:cNvPr id="7" name="Burbuja"/>
          <p:cNvSpPr/>
          <p:nvPr/>
        </p:nvSpPr>
        <p:spPr>
          <a:xfrm>
            <a:off x="6766560" y="2423160"/>
            <a:ext cx="4480560" cy="1005840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 txBox="1"/>
          <p:nvPr/>
        </p:nvSpPr>
        <p:spPr>
          <a:xfrm>
            <a:off x="6995160" y="2423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 mora subió 18 %</a:t>
            </a:r>
            <a:endParaRPr lang="en-US" sz="3000" dirty="0"/>
          </a:p>
        </p:txBody>
      </p:sp>
      <p:sp>
        <p:nvSpPr>
          <p:cNvPr id="9" name="Circulo ?"/>
          <p:cNvSpPr/>
          <p:nvPr/>
        </p:nvSpPr>
        <p:spPr>
          <a:xfrm>
            <a:off x="6766560" y="384048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 txBox="1"/>
          <p:nvPr/>
        </p:nvSpPr>
        <p:spPr>
          <a:xfrm>
            <a:off x="6766560" y="3840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?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3840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¿De qué consulta sale? ¿Con qué datos?</a:t>
            </a:r>
            <a:endParaRPr lang="en-US" sz="2000" dirty="0"/>
          </a:p>
        </p:txBody>
      </p:sp>
      <p:sp>
        <p:nvSpPr>
          <p:cNvPr id="12" name="Puente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→  ¿Cómo confiar?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Exo" panose="020B0604020202020204" charset="0"/>
              </a:rPr>
              <a:t>Ninguna cifra sin comprobarla</a:t>
            </a:r>
            <a:endParaRPr lang="en-US" sz="3600" dirty="0">
              <a:latin typeface="Exo" panose="020B0604020202020204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Cada hecho que la IA afirma trae la consulta SQL que lo demuestra. Antes de mostrarlo, el sistema la vuelve a ejecutar contra tus datos.</a:t>
            </a:r>
            <a:endParaRPr lang="en-US" sz="2200" dirty="0"/>
          </a:p>
        </p:txBody>
      </p:sp>
      <p:sp>
        <p:nvSpPr>
          <p:cNvPr id="5" name="Tarjeta"/>
          <p:cNvSpPr/>
          <p:nvPr/>
        </p:nvSpPr>
        <p:spPr>
          <a:xfrm>
            <a:off x="548640" y="2743200"/>
            <a:ext cx="3136392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arjeta"/>
          <p:cNvSpPr/>
          <p:nvPr/>
        </p:nvSpPr>
        <p:spPr>
          <a:xfrm>
            <a:off x="4526280" y="2743200"/>
            <a:ext cx="3136392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arjeta"/>
          <p:cNvSpPr/>
          <p:nvPr/>
        </p:nvSpPr>
        <p:spPr>
          <a:xfrm>
            <a:off x="8503920" y="2743200"/>
            <a:ext cx="3136392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 txBox="1"/>
          <p:nvPr/>
        </p:nvSpPr>
        <p:spPr>
          <a:xfrm>
            <a:off x="82296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1 · LA CIFRA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747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Ventas Q3: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$17,881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4800600" y="2971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2 · SU CONSULTA SQL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800600" y="3474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SUM(total)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ventas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trimestre = 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7782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3 · SE RE-EJECUTA</a:t>
            </a:r>
            <a:endParaRPr lang="en-US" sz="1400" dirty="0"/>
          </a:p>
        </p:txBody>
      </p:sp>
      <p:pic>
        <p:nvPicPr>
          <p:cNvPr id="13" name="Icono verificado" descr="Verifica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352044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55548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Verificado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8778240" y="4297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Si no coincide, el hecho se marca como no verificado.</a:t>
            </a:r>
            <a:endParaRPr lang="en-US" sz="1400" dirty="0"/>
          </a:p>
        </p:txBody>
      </p:sp>
      <p:sp>
        <p:nvSpPr>
          <p:cNvPr id="16" name="Flecha"/>
          <p:cNvSpPr/>
          <p:nvPr/>
        </p:nvSpPr>
        <p:spPr>
          <a:xfrm>
            <a:off x="3749040" y="3657600"/>
            <a:ext cx="640080" cy="45720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Flecha"/>
          <p:cNvSpPr/>
          <p:nvPr/>
        </p:nvSpPr>
        <p:spPr>
          <a:xfrm>
            <a:off x="7726680" y="3657600"/>
            <a:ext cx="640080" cy="45720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Puente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→  ¿Quién hace el trabajo?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Exo" panose="020B0604020202020204" charset="0"/>
              </a:rPr>
              <a:t>Un equipo de agentes, no un chatbot</a:t>
            </a:r>
            <a:endParaRPr lang="en-US" sz="3600" dirty="0">
              <a:latin typeface="Exo" panose="020B0604020202020204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Un coordinador reparte la pregunta a tres especialistas; un validador comprueba lo que entregan.</a:t>
            </a:r>
            <a:endParaRPr lang="en-US" sz="2000" dirty="0"/>
          </a:p>
        </p:txBody>
      </p:sp>
      <p:sp>
        <p:nvSpPr>
          <p:cNvPr id="5" name="Coordinador"/>
          <p:cNvSpPr/>
          <p:nvPr/>
        </p:nvSpPr>
        <p:spPr>
          <a:xfrm>
            <a:off x="4480560" y="2011680"/>
            <a:ext cx="3200400" cy="8686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 txBox="1"/>
          <p:nvPr/>
        </p:nvSpPr>
        <p:spPr>
          <a:xfrm>
            <a:off x="4480560" y="20848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Coordinador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448056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recibe la pregunta y reparte</a:t>
            </a:r>
            <a:endParaRPr lang="en-US" sz="1500" dirty="0"/>
          </a:p>
        </p:txBody>
      </p:sp>
      <p:sp>
        <p:nvSpPr>
          <p:cNvPr id="8" name="Conector 1"/>
          <p:cNvSpPr/>
          <p:nvPr/>
        </p:nvSpPr>
        <p:spPr>
          <a:xfrm flipH="1">
            <a:off x="2286000" y="2880360"/>
            <a:ext cx="3794760" cy="5486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9" name="Conector 2"/>
          <p:cNvSpPr/>
          <p:nvPr/>
        </p:nvSpPr>
        <p:spPr>
          <a:xfrm>
            <a:off x="6080760" y="2880360"/>
            <a:ext cx="0" cy="5486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0" name="Conector 3"/>
          <p:cNvSpPr/>
          <p:nvPr/>
        </p:nvSpPr>
        <p:spPr>
          <a:xfrm>
            <a:off x="6080760" y="2880360"/>
            <a:ext cx="3794760" cy="5486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1" name="Tarjeta"/>
          <p:cNvSpPr/>
          <p:nvPr/>
        </p:nvSpPr>
        <p:spPr>
          <a:xfrm>
            <a:off x="548640" y="3429000"/>
            <a:ext cx="3474720" cy="141732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2" name="Icono Datos" descr="Da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118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Datos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297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Consigue los datos y revisa su calidad.</a:t>
            </a:r>
            <a:endParaRPr lang="en-US" sz="1600" dirty="0"/>
          </a:p>
        </p:txBody>
      </p:sp>
      <p:sp>
        <p:nvSpPr>
          <p:cNvPr id="15" name="Tarjeta"/>
          <p:cNvSpPr/>
          <p:nvPr/>
        </p:nvSpPr>
        <p:spPr>
          <a:xfrm>
            <a:off x="4357116" y="3429000"/>
            <a:ext cx="3474720" cy="141732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6" name="Icono Analista" descr="Analis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436" y="36118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62956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Analista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4631436" y="4297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Consulta con SQL y calcula estadística.</a:t>
            </a:r>
            <a:endParaRPr lang="en-US" sz="1600" dirty="0"/>
          </a:p>
        </p:txBody>
      </p:sp>
      <p:sp>
        <p:nvSpPr>
          <p:cNvPr id="19" name="Tarjeta"/>
          <p:cNvSpPr/>
          <p:nvPr/>
        </p:nvSpPr>
        <p:spPr>
          <a:xfrm>
            <a:off x="8165592" y="3429000"/>
            <a:ext cx="3474720" cy="141732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0" name="Icono Científico ML" descr="Científico M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361188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71432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Científico ML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8439912" y="4297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Entrena modelos para predecir.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715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BoxLang AI · 29 herramientas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31" name="Conector validador 1"/>
          <p:cNvSpPr/>
          <p:nvPr/>
        </p:nvSpPr>
        <p:spPr>
          <a:xfrm>
            <a:off x="2286000" y="4846320"/>
            <a:ext cx="2834640" cy="50292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32" name="Conector validador 2"/>
          <p:cNvSpPr/>
          <p:nvPr/>
        </p:nvSpPr>
        <p:spPr>
          <a:xfrm>
            <a:off x="6080760" y="4846320"/>
            <a:ext cx="0" cy="50292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33" name="Conector validador 3"/>
          <p:cNvSpPr/>
          <p:nvPr/>
        </p:nvSpPr>
        <p:spPr>
          <a:xfrm flipH="1">
            <a:off x="7040880" y="4846320"/>
            <a:ext cx="2862072" cy="50292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34" name="Validador"/>
          <p:cNvSpPr/>
          <p:nvPr/>
        </p:nvSpPr>
        <p:spPr>
          <a:xfrm>
            <a:off x="4480560" y="5349240"/>
            <a:ext cx="3200400" cy="82296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5" name="Texto Validador"/>
          <p:cNvSpPr txBox="1"/>
          <p:nvPr/>
        </p:nvSpPr>
        <p:spPr>
          <a:xfrm>
            <a:off x="4480560" y="5422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MX" sz="2400" b="1" dirty="0">
                <a:solidFill>
                  <a:schemeClr val="bg1"/>
                </a:solidFill>
              </a:rPr>
              <a:t>Validador</a:t>
            </a:r>
          </a:p>
        </p:txBody>
      </p:sp>
      <p:sp>
        <p:nvSpPr>
          <p:cNvPr id="36" name="Texto Validador sub"/>
          <p:cNvSpPr txBox="1"/>
          <p:nvPr/>
        </p:nvSpPr>
        <p:spPr>
          <a:xfrm>
            <a:off x="448056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MX" sz="1400" dirty="0">
                <a:solidFill>
                  <a:schemeClr val="bg1"/>
                </a:solidFill>
              </a:rPr>
              <a:t>re-ejecuta el SQL de cada hecho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Exo" panose="020B0604020202020204" charset="0"/>
              </a:rPr>
              <a:t>Cuatro capas para poder confiar</a:t>
            </a:r>
            <a:endParaRPr lang="en-US" sz="3600" dirty="0">
              <a:latin typeface="Exo" panose="020B0604020202020204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Cada capa protege un punto distinto del análisis.</a:t>
            </a:r>
            <a:endParaRPr lang="en-US" sz="2200" dirty="0"/>
          </a:p>
        </p:txBody>
      </p:sp>
      <p:sp>
        <p:nvSpPr>
          <p:cNvPr id="5" name="Tarjeta"/>
          <p:cNvSpPr/>
          <p:nvPr/>
        </p:nvSpPr>
        <p:spPr>
          <a:xfrm>
            <a:off x="548640" y="2286000"/>
            <a:ext cx="2606040" cy="33832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cono 1 · Anonimiza" descr="1 · Anonimiz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0"/>
            <a:ext cx="640080" cy="640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1 · Anonimiza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931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Nombres, teléfonos y DUI se reemplazan por seudónimos antes de que la IA los vea.</a:t>
            </a:r>
            <a:endParaRPr lang="en-US" sz="1600" dirty="0"/>
          </a:p>
        </p:txBody>
      </p:sp>
      <p:sp>
        <p:nvSpPr>
          <p:cNvPr id="9" name="Tarjeta"/>
          <p:cNvSpPr/>
          <p:nvPr/>
        </p:nvSpPr>
        <p:spPr>
          <a:xfrm>
            <a:off x="3376879" y="2286000"/>
            <a:ext cx="2606040" cy="33832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0" name="Icono 2 · Mide calidad" descr="2 · Mide calida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199" y="256032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651199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2 · Mide calidad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3651199" y="3931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Un puntaje por tabla, calculado sin gastar IA.</a:t>
            </a:r>
            <a:endParaRPr lang="en-US" sz="1600" dirty="0"/>
          </a:p>
        </p:txBody>
      </p:sp>
      <p:sp>
        <p:nvSpPr>
          <p:cNvPr id="13" name="Tarjeta"/>
          <p:cNvSpPr/>
          <p:nvPr/>
        </p:nvSpPr>
        <p:spPr>
          <a:xfrm>
            <a:off x="6205118" y="2286000"/>
            <a:ext cx="2606040" cy="33832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4" name="Icono 3 · Verifica" descr="3 · Verific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438" y="2560320"/>
            <a:ext cx="640080" cy="6400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479438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3 · Verifica</a:t>
            </a:r>
            <a:endParaRPr lang="en-US" sz="2200" dirty="0"/>
          </a:p>
        </p:txBody>
      </p:sp>
      <p:sp>
        <p:nvSpPr>
          <p:cNvPr id="16" name="Text 10"/>
          <p:cNvSpPr txBox="1"/>
          <p:nvPr/>
        </p:nvSpPr>
        <p:spPr>
          <a:xfrm>
            <a:off x="6479438" y="3931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Re-ejecuta el SQL de cada cifra antes de mostrarla.</a:t>
            </a:r>
            <a:endParaRPr lang="en-US" sz="1600" dirty="0"/>
          </a:p>
        </p:txBody>
      </p:sp>
      <p:sp>
        <p:nvSpPr>
          <p:cNvPr id="17" name="Tarjeta"/>
          <p:cNvSpPr/>
          <p:nvPr/>
        </p:nvSpPr>
        <p:spPr>
          <a:xfrm>
            <a:off x="9033358" y="2286000"/>
            <a:ext cx="2606040" cy="33832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8" name="Icono 4 · Sella" descr="4 · Sell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7678" y="2560320"/>
            <a:ext cx="640080" cy="6400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307678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4 · Sella</a:t>
            </a:r>
            <a:endParaRPr lang="en-US" sz="2200" dirty="0"/>
          </a:p>
        </p:txBody>
      </p:sp>
      <p:sp>
        <p:nvSpPr>
          <p:cNvPr id="20" name="Text 13"/>
          <p:cNvSpPr txBox="1"/>
          <p:nvPr/>
        </p:nvSpPr>
        <p:spPr>
          <a:xfrm>
            <a:off x="9307678" y="3931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Guarda los hechos en una cadena de hashes: si los datos cambian, se detecta.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Exo" panose="020B0604020202020204" charset="0"/>
              </a:rPr>
              <a:t>Así lo vamos a probar</a:t>
            </a:r>
            <a:endParaRPr lang="en-US" sz="3600" dirty="0">
              <a:latin typeface="Exo" panose="020B0604020202020204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Un Excel sucio de </a:t>
            </a:r>
            <a:r>
              <a:rPr lang="en-US" sz="2200" dirty="0" err="1">
                <a:solidFill>
                  <a:schemeClr val="tx2"/>
                </a:solidFill>
              </a:rPr>
              <a:t>una</a:t>
            </a:r>
            <a:r>
              <a:rPr lang="en-US" sz="2200" dirty="0">
                <a:solidFill>
                  <a:schemeClr val="tx2"/>
                </a:solidFill>
              </a:rPr>
              <a:t> </a:t>
            </a:r>
            <a:r>
              <a:rPr lang="en-US" sz="2200" dirty="0" err="1">
                <a:solidFill>
                  <a:schemeClr val="tx2"/>
                </a:solidFill>
              </a:rPr>
              <a:t>empresa</a:t>
            </a:r>
            <a:r>
              <a:rPr lang="en-US" sz="2200" dirty="0">
                <a:solidFill>
                  <a:schemeClr val="tx2"/>
                </a:solidFill>
              </a:rPr>
              <a:t>, con datos que la IA no conoce.</a:t>
            </a:r>
            <a:endParaRPr lang="en-US" sz="2200" dirty="0"/>
          </a:p>
        </p:txBody>
      </p:sp>
      <p:sp>
        <p:nvSpPr>
          <p:cNvPr id="5" name="Paso 1"/>
          <p:cNvSpPr/>
          <p:nvPr/>
        </p:nvSpPr>
        <p:spPr>
          <a:xfrm>
            <a:off x="548640" y="2377440"/>
            <a:ext cx="2011680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 txBox="1"/>
          <p:nvPr/>
        </p:nvSpPr>
        <p:spPr>
          <a:xfrm>
            <a:off x="777240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PASO 1</a:t>
            </a:r>
            <a:endParaRPr lang="en-US" sz="1300" dirty="0"/>
          </a:p>
        </p:txBody>
      </p:sp>
      <p:pic>
        <p:nvPicPr>
          <p:cNvPr id="7" name="Icono Subir el Excel" descr="Subir el Exc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17520"/>
            <a:ext cx="640080" cy="640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3840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Subir el Excel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4617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sin prepararlo antes</a:t>
            </a:r>
            <a:endParaRPr lang="en-US" sz="1400" dirty="0"/>
          </a:p>
        </p:txBody>
      </p:sp>
      <p:sp>
        <p:nvSpPr>
          <p:cNvPr id="10" name="Paso 2"/>
          <p:cNvSpPr/>
          <p:nvPr/>
        </p:nvSpPr>
        <p:spPr>
          <a:xfrm>
            <a:off x="2819095" y="2377440"/>
            <a:ext cx="2011680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7"/>
          <p:cNvSpPr txBox="1"/>
          <p:nvPr/>
        </p:nvSpPr>
        <p:spPr>
          <a:xfrm>
            <a:off x="3047695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PASO 2</a:t>
            </a:r>
            <a:endParaRPr lang="en-US" sz="1300" dirty="0"/>
          </a:p>
        </p:txBody>
      </p:sp>
      <p:pic>
        <p:nvPicPr>
          <p:cNvPr id="12" name="Icono Lanzar la misión" descr="Lanzar la misió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695" y="301752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047695" y="3840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Lanzar la misión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3047695" y="4617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en lenguaje natural</a:t>
            </a:r>
            <a:endParaRPr lang="en-US" sz="1400" dirty="0"/>
          </a:p>
        </p:txBody>
      </p:sp>
      <p:sp>
        <p:nvSpPr>
          <p:cNvPr id="15" name="Paso 3"/>
          <p:cNvSpPr/>
          <p:nvPr/>
        </p:nvSpPr>
        <p:spPr>
          <a:xfrm>
            <a:off x="5089550" y="2377440"/>
            <a:ext cx="2011680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1"/>
          <p:cNvSpPr txBox="1"/>
          <p:nvPr/>
        </p:nvSpPr>
        <p:spPr>
          <a:xfrm>
            <a:off x="5318150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PASO 3</a:t>
            </a:r>
            <a:endParaRPr lang="en-US" sz="1300" dirty="0"/>
          </a:p>
        </p:txBody>
      </p:sp>
      <p:pic>
        <p:nvPicPr>
          <p:cNvPr id="17" name="Icono Respuesta verificada" descr="Respuesta verificad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8150" y="301752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18150" y="3840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Respuesta verificada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5318150" y="4617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cada hecho con su SQL</a:t>
            </a:r>
            <a:endParaRPr lang="en-US" sz="1400" dirty="0"/>
          </a:p>
        </p:txBody>
      </p:sp>
      <p:sp>
        <p:nvSpPr>
          <p:cNvPr id="20" name="Paso 4"/>
          <p:cNvSpPr/>
          <p:nvPr/>
        </p:nvSpPr>
        <p:spPr>
          <a:xfrm>
            <a:off x="7360006" y="2377440"/>
            <a:ext cx="2011680" cy="3017520"/>
          </a:xfrm>
          <a:prstGeom prst="roundRect">
            <a:avLst>
              <a:gd name="adj" fmla="val 545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5"/>
          <p:cNvSpPr txBox="1"/>
          <p:nvPr/>
        </p:nvSpPr>
        <p:spPr>
          <a:xfrm>
            <a:off x="7588606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PASO 4</a:t>
            </a:r>
            <a:endParaRPr lang="en-US" sz="1300" dirty="0"/>
          </a:p>
        </p:txBody>
      </p:sp>
      <p:pic>
        <p:nvPicPr>
          <p:cNvPr id="22" name="Icono Momento VeriMine" descr="Momento VeriM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8606" y="3017520"/>
            <a:ext cx="640080" cy="6400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588606" y="3840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Momento VeriMine</a:t>
            </a:r>
            <a:endParaRPr lang="en-US" sz="1900" dirty="0"/>
          </a:p>
        </p:txBody>
      </p:sp>
      <p:sp>
        <p:nvSpPr>
          <p:cNvPr id="24" name="Text 17"/>
          <p:cNvSpPr txBox="1"/>
          <p:nvPr/>
        </p:nvSpPr>
        <p:spPr>
          <a:xfrm>
            <a:off x="7588606" y="4617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¿cuadran los totales?</a:t>
            </a:r>
            <a:endParaRPr lang="en-US" sz="1400" dirty="0"/>
          </a:p>
        </p:txBody>
      </p:sp>
      <p:sp>
        <p:nvSpPr>
          <p:cNvPr id="25" name="Paso 5"/>
          <p:cNvSpPr/>
          <p:nvPr/>
        </p:nvSpPr>
        <p:spPr>
          <a:xfrm>
            <a:off x="9630461" y="2377440"/>
            <a:ext cx="2011680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19"/>
          <p:cNvSpPr txBox="1"/>
          <p:nvPr/>
        </p:nvSpPr>
        <p:spPr>
          <a:xfrm>
            <a:off x="9859061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PASO 5</a:t>
            </a:r>
            <a:endParaRPr lang="en-US" sz="1300" dirty="0"/>
          </a:p>
        </p:txBody>
      </p:sp>
      <p:pic>
        <p:nvPicPr>
          <p:cNvPr id="27" name="Icono Informe" descr="Inform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9061" y="3017520"/>
            <a:ext cx="640080" cy="64008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859061" y="3840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Informe</a:t>
            </a:r>
            <a:endParaRPr lang="en-US" sz="1900" dirty="0"/>
          </a:p>
        </p:txBody>
      </p:sp>
      <p:sp>
        <p:nvSpPr>
          <p:cNvPr id="29" name="Text 21"/>
          <p:cNvSpPr txBox="1"/>
          <p:nvPr/>
        </p:nvSpPr>
        <p:spPr>
          <a:xfrm>
            <a:off x="9859061" y="4617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un solo archivo HTML</a:t>
            </a:r>
            <a:endParaRPr lang="en-US" sz="1400" dirty="0"/>
          </a:p>
        </p:txBody>
      </p:sp>
      <p:sp>
        <p:nvSpPr>
          <p:cNvPr id="30" name="Puente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→  Veámoslo.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Exo" panose="020B0604020202020204" charset="0"/>
              </a:rPr>
              <a:t>¿Qué pasa por dentro?</a:t>
            </a:r>
            <a:endParaRPr lang="en-US" sz="3600" dirty="0">
              <a:latin typeface="Exo" panose="020B0604020202020204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El coordinador reparte el trabajo, los especialistas consultan los datos y el verificador comprueba cada cifra.</a:t>
            </a:r>
            <a:endParaRPr lang="en-US" sz="2000" dirty="0"/>
          </a:p>
        </p:txBody>
      </p:sp>
      <p:sp>
        <p:nvSpPr>
          <p:cNvPr id="5" name="Etapa Pregunta"/>
          <p:cNvSpPr/>
          <p:nvPr/>
        </p:nvSpPr>
        <p:spPr>
          <a:xfrm>
            <a:off x="548640" y="2606040"/>
            <a:ext cx="1554480" cy="96012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 txBox="1"/>
          <p:nvPr/>
        </p:nvSpPr>
        <p:spPr>
          <a:xfrm>
            <a:off x="548640" y="26060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Pregunta</a:t>
            </a:r>
            <a:endParaRPr lang="en-US" sz="1600" dirty="0"/>
          </a:p>
        </p:txBody>
      </p:sp>
      <p:sp>
        <p:nvSpPr>
          <p:cNvPr id="7" name="Flecha"/>
          <p:cNvSpPr/>
          <p:nvPr/>
        </p:nvSpPr>
        <p:spPr>
          <a:xfrm>
            <a:off x="2139696" y="2953512"/>
            <a:ext cx="274320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Etapa Coordinador"/>
          <p:cNvSpPr/>
          <p:nvPr/>
        </p:nvSpPr>
        <p:spPr>
          <a:xfrm>
            <a:off x="2456078" y="2606040"/>
            <a:ext cx="1554480" cy="96012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 txBox="1"/>
          <p:nvPr/>
        </p:nvSpPr>
        <p:spPr>
          <a:xfrm>
            <a:off x="2456078" y="26060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Coordinador</a:t>
            </a:r>
            <a:endParaRPr lang="en-US" sz="1600" dirty="0"/>
          </a:p>
        </p:txBody>
      </p:sp>
      <p:sp>
        <p:nvSpPr>
          <p:cNvPr id="10" name="Flecha"/>
          <p:cNvSpPr/>
          <p:nvPr/>
        </p:nvSpPr>
        <p:spPr>
          <a:xfrm>
            <a:off x="4047134" y="2953512"/>
            <a:ext cx="274320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Etapa Especialistas"/>
          <p:cNvSpPr/>
          <p:nvPr/>
        </p:nvSpPr>
        <p:spPr>
          <a:xfrm>
            <a:off x="4363517" y="2606040"/>
            <a:ext cx="1554480" cy="96012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 txBox="1"/>
          <p:nvPr/>
        </p:nvSpPr>
        <p:spPr>
          <a:xfrm>
            <a:off x="4363517" y="26060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Especialistas</a:t>
            </a:r>
            <a:endParaRPr lang="en-US" sz="1600" dirty="0"/>
          </a:p>
        </p:txBody>
      </p:sp>
      <p:sp>
        <p:nvSpPr>
          <p:cNvPr id="13" name="Flecha"/>
          <p:cNvSpPr/>
          <p:nvPr/>
        </p:nvSpPr>
        <p:spPr>
          <a:xfrm>
            <a:off x="5954573" y="2953512"/>
            <a:ext cx="274320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Etapa JSON estructurado"/>
          <p:cNvSpPr/>
          <p:nvPr/>
        </p:nvSpPr>
        <p:spPr>
          <a:xfrm>
            <a:off x="6270955" y="2606040"/>
            <a:ext cx="1554480" cy="96012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 txBox="1"/>
          <p:nvPr/>
        </p:nvSpPr>
        <p:spPr>
          <a:xfrm>
            <a:off x="6270955" y="26060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JSON estructurado</a:t>
            </a:r>
            <a:endParaRPr lang="en-US" sz="1600" dirty="0"/>
          </a:p>
        </p:txBody>
      </p:sp>
      <p:sp>
        <p:nvSpPr>
          <p:cNvPr id="16" name="Flecha"/>
          <p:cNvSpPr/>
          <p:nvPr/>
        </p:nvSpPr>
        <p:spPr>
          <a:xfrm>
            <a:off x="7862011" y="2953512"/>
            <a:ext cx="274320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Etapa Verificador"/>
          <p:cNvSpPr/>
          <p:nvPr/>
        </p:nvSpPr>
        <p:spPr>
          <a:xfrm>
            <a:off x="8178394" y="2606040"/>
            <a:ext cx="1554480" cy="96012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 txBox="1"/>
          <p:nvPr/>
        </p:nvSpPr>
        <p:spPr>
          <a:xfrm>
            <a:off x="8178394" y="26060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Verificador</a:t>
            </a:r>
            <a:endParaRPr lang="en-US" sz="1600" dirty="0"/>
          </a:p>
        </p:txBody>
      </p:sp>
      <p:sp>
        <p:nvSpPr>
          <p:cNvPr id="19" name="Flecha"/>
          <p:cNvSpPr/>
          <p:nvPr/>
        </p:nvSpPr>
        <p:spPr>
          <a:xfrm>
            <a:off x="9769450" y="2953512"/>
            <a:ext cx="274320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Etapa Informe"/>
          <p:cNvSpPr/>
          <p:nvPr/>
        </p:nvSpPr>
        <p:spPr>
          <a:xfrm>
            <a:off x="10085832" y="2606040"/>
            <a:ext cx="1554480" cy="96012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8"/>
          <p:cNvSpPr txBox="1"/>
          <p:nvPr/>
        </p:nvSpPr>
        <p:spPr>
          <a:xfrm>
            <a:off x="10085832" y="26060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Informe</a:t>
            </a:r>
            <a:endParaRPr lang="en-US" sz="1600" dirty="0"/>
          </a:p>
        </p:txBody>
      </p:sp>
      <p:sp>
        <p:nvSpPr>
          <p:cNvPr id="22" name="Tarjeta"/>
          <p:cNvSpPr/>
          <p:nvPr/>
        </p:nvSpPr>
        <p:spPr>
          <a:xfrm>
            <a:off x="548640" y="397764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arjeta"/>
          <p:cNvSpPr/>
          <p:nvPr/>
        </p:nvSpPr>
        <p:spPr>
          <a:xfrm>
            <a:off x="6217920" y="397764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4" name="Icono hechos" descr="Hech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51960"/>
            <a:ext cx="502920" cy="5029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554480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Hechos</a:t>
            </a:r>
            <a:endParaRPr lang="en-US" sz="2400" dirty="0"/>
          </a:p>
        </p:txBody>
      </p:sp>
      <p:sp>
        <p:nvSpPr>
          <p:cNvPr id="26" name="Text 22"/>
          <p:cNvSpPr txBox="1"/>
          <p:nvPr/>
        </p:nvSpPr>
        <p:spPr>
          <a:xfrm>
            <a:off x="868680" y="4892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Afirmaciones con su consulta SQL, comprobadas contra los datos.</a:t>
            </a:r>
            <a:endParaRPr lang="en-US" sz="1700" dirty="0"/>
          </a:p>
        </p:txBody>
      </p:sp>
      <p:pic>
        <p:nvPicPr>
          <p:cNvPr id="27" name="Icono interpretaciones" descr="Interpretacion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251960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223760" y="4251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Interpretaciones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6537960" y="4892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Hipótesis y recomendaciones del equipo, etiquetadas como tales.</a:t>
            </a:r>
            <a:endParaRPr lang="en-US" sz="17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5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Exo" panose="020B0604020202020204" charset="0"/>
              </a:rPr>
              <a:t>Verificado, no prometido</a:t>
            </a:r>
            <a:endParaRPr lang="en-US" sz="3600" dirty="0">
              <a:latin typeface="Exo" panose="020B0604020202020204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Lo que vieron funciona, y los cálculos se contrastaron con </a:t>
            </a:r>
            <a:r>
              <a:rPr lang="en-US" sz="2200" dirty="0" err="1">
                <a:solidFill>
                  <a:schemeClr val="tx2"/>
                </a:solidFill>
              </a:rPr>
              <a:t>BoxLang</a:t>
            </a:r>
            <a:r>
              <a:rPr lang="en-US" sz="2200" dirty="0">
                <a:solidFill>
                  <a:schemeClr val="tx2"/>
                </a:solidFill>
              </a:rPr>
              <a:t>.</a:t>
            </a:r>
            <a:endParaRPr lang="en-US" sz="2200" dirty="0"/>
          </a:p>
        </p:txBody>
      </p:sp>
      <p:sp>
        <p:nvSpPr>
          <p:cNvPr id="5" name="Tarjeta"/>
          <p:cNvSpPr/>
          <p:nvPr/>
        </p:nvSpPr>
        <p:spPr>
          <a:xfrm>
            <a:off x="548640" y="233172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 txBox="1"/>
          <p:nvPr/>
        </p:nvSpPr>
        <p:spPr>
          <a:xfrm>
            <a:off x="822960" y="2651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33 → 62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9319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Calidad del Excel de prueba tras la limpieza automática</a:t>
            </a:r>
            <a:endParaRPr lang="en-US" sz="1800" dirty="0"/>
          </a:p>
        </p:txBody>
      </p:sp>
      <p:sp>
        <p:nvSpPr>
          <p:cNvPr id="8" name="Tarjeta"/>
          <p:cNvSpPr/>
          <p:nvPr/>
        </p:nvSpPr>
        <p:spPr>
          <a:xfrm>
            <a:off x="4311396" y="233172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 txBox="1"/>
          <p:nvPr/>
        </p:nvSpPr>
        <p:spPr>
          <a:xfrm>
            <a:off x="4585716" y="2651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= </a:t>
            </a:r>
            <a:r>
              <a:rPr lang="en-US" sz="5400" b="1" dirty="0" err="1">
                <a:solidFill>
                  <a:schemeClr val="accent1"/>
                </a:solidFill>
              </a:rPr>
              <a:t>BoxLang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4604378" y="39319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/>
              <a:t>Análisis</a:t>
            </a:r>
            <a:r>
              <a:rPr lang="en-US" sz="1800" dirty="0"/>
              <a:t> de </a:t>
            </a:r>
            <a:r>
              <a:rPr lang="en-US" sz="1800" dirty="0" err="1"/>
              <a:t>datos</a:t>
            </a:r>
            <a:r>
              <a:rPr lang="en-US" dirty="0"/>
              <a:t> </a:t>
            </a:r>
            <a:r>
              <a:rPr lang="en-US" dirty="0" err="1"/>
              <a:t>asistido</a:t>
            </a:r>
            <a:endParaRPr lang="en-US" sz="1800" dirty="0"/>
          </a:p>
        </p:txBody>
      </p:sp>
      <p:sp>
        <p:nvSpPr>
          <p:cNvPr id="11" name="Tarjeta"/>
          <p:cNvSpPr/>
          <p:nvPr/>
        </p:nvSpPr>
        <p:spPr>
          <a:xfrm>
            <a:off x="8074152" y="233172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 txBox="1"/>
          <p:nvPr/>
        </p:nvSpPr>
        <p:spPr>
          <a:xfrm>
            <a:off x="8348472" y="2651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29</a:t>
            </a:r>
            <a:endParaRPr lang="en-US" sz="5400" dirty="0"/>
          </a:p>
        </p:txBody>
      </p:sp>
      <p:sp>
        <p:nvSpPr>
          <p:cNvPr id="13" name="Text 10"/>
          <p:cNvSpPr txBox="1"/>
          <p:nvPr/>
        </p:nvSpPr>
        <p:spPr>
          <a:xfrm>
            <a:off x="8348472" y="39319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Tools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577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Resultados obtenidos con datos de prueba, no de una empresa real.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Exo" panose="020B0604020202020204" charset="0"/>
              </a:rPr>
              <a:t>Seguridad basada en ISO/IEC 27001</a:t>
            </a:r>
            <a:endParaRPr lang="en-US" sz="3600" dirty="0">
              <a:latin typeface="Exo" panose="020B0604020202020204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Aplicamos controles técnicos del Anexo A al producto.</a:t>
            </a:r>
            <a:endParaRPr lang="en-US" sz="2200" dirty="0"/>
          </a:p>
        </p:txBody>
      </p:sp>
      <p:sp>
        <p:nvSpPr>
          <p:cNvPr id="5" name="Fila A.8.11"/>
          <p:cNvSpPr/>
          <p:nvPr/>
        </p:nvSpPr>
        <p:spPr>
          <a:xfrm>
            <a:off x="548640" y="2286000"/>
            <a:ext cx="704088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Chip A.8.11"/>
          <p:cNvSpPr/>
          <p:nvPr/>
        </p:nvSpPr>
        <p:spPr>
          <a:xfrm>
            <a:off x="731520" y="2414016"/>
            <a:ext cx="1280160" cy="493776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 txBox="1"/>
          <p:nvPr/>
        </p:nvSpPr>
        <p:spPr>
          <a:xfrm>
            <a:off x="731520" y="2414016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A.8.11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23774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Enmascaramiento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434840" y="237744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Seudónimos antes de la IA</a:t>
            </a:r>
            <a:endParaRPr lang="en-US" sz="1500" dirty="0"/>
          </a:p>
        </p:txBody>
      </p:sp>
      <p:sp>
        <p:nvSpPr>
          <p:cNvPr id="10" name="Fila A.8.24"/>
          <p:cNvSpPr/>
          <p:nvPr/>
        </p:nvSpPr>
        <p:spPr>
          <a:xfrm>
            <a:off x="548640" y="3172968"/>
            <a:ext cx="704088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Chip A.8.24"/>
          <p:cNvSpPr/>
          <p:nvPr/>
        </p:nvSpPr>
        <p:spPr>
          <a:xfrm>
            <a:off x="731520" y="3300984"/>
            <a:ext cx="1280160" cy="493776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 txBox="1"/>
          <p:nvPr/>
        </p:nvSpPr>
        <p:spPr>
          <a:xfrm>
            <a:off x="731520" y="3300984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A.8.24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240280" y="32644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Criptografía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434840" y="326440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HMAC-SHA256 y cadena de hashes</a:t>
            </a:r>
            <a:endParaRPr lang="en-US" sz="1500" dirty="0"/>
          </a:p>
        </p:txBody>
      </p:sp>
      <p:sp>
        <p:nvSpPr>
          <p:cNvPr id="15" name="Fila A.8.15"/>
          <p:cNvSpPr/>
          <p:nvPr/>
        </p:nvSpPr>
        <p:spPr>
          <a:xfrm>
            <a:off x="548640" y="4059936"/>
            <a:ext cx="704088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Chip A.8.15"/>
          <p:cNvSpPr/>
          <p:nvPr/>
        </p:nvSpPr>
        <p:spPr>
          <a:xfrm>
            <a:off x="731520" y="4187952"/>
            <a:ext cx="1280160" cy="493776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 txBox="1"/>
          <p:nvPr/>
        </p:nvSpPr>
        <p:spPr>
          <a:xfrm>
            <a:off x="731520" y="4187952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A.8.15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2240280" y="415137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Registro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4434840" y="415137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Bitácora de cada llamada</a:t>
            </a:r>
            <a:endParaRPr lang="en-US" sz="1500" dirty="0"/>
          </a:p>
        </p:txBody>
      </p:sp>
      <p:sp>
        <p:nvSpPr>
          <p:cNvPr id="20" name="Fila A.5.34"/>
          <p:cNvSpPr/>
          <p:nvPr/>
        </p:nvSpPr>
        <p:spPr>
          <a:xfrm>
            <a:off x="548640" y="4946904"/>
            <a:ext cx="704088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Chip A.5.34"/>
          <p:cNvSpPr/>
          <p:nvPr/>
        </p:nvSpPr>
        <p:spPr>
          <a:xfrm>
            <a:off x="731520" y="5074920"/>
            <a:ext cx="1280160" cy="493776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19"/>
          <p:cNvSpPr txBox="1"/>
          <p:nvPr/>
        </p:nvSpPr>
        <p:spPr>
          <a:xfrm>
            <a:off x="731520" y="507492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A.5.34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2240280" y="503834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Privacidad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4434840" y="50383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La IA solo ve datos seudonimizados</a:t>
            </a:r>
            <a:endParaRPr lang="en-US" sz="1500" dirty="0"/>
          </a:p>
        </p:txBody>
      </p:sp>
      <p:sp>
        <p:nvSpPr>
          <p:cNvPr id="25" name="Aviso certificación"/>
          <p:cNvSpPr/>
          <p:nvPr/>
        </p:nvSpPr>
        <p:spPr>
          <a:xfrm>
            <a:off x="7955280" y="2286000"/>
            <a:ext cx="3657600" cy="3383280"/>
          </a:xfrm>
          <a:prstGeom prst="roundRect">
            <a:avLst>
              <a:gd name="adj" fmla="val 324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6" name="Icono escudo" descr="Escu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651760"/>
            <a:ext cx="731520" cy="73152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321040" y="3611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Controles aplicados.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No es una certificación.</a:t>
            </a:r>
            <a:endParaRPr lang="en-US" sz="2400" dirty="0"/>
          </a:p>
        </p:txBody>
      </p:sp>
      <p:sp>
        <p:nvSpPr>
          <p:cNvPr id="28" name="Text 24"/>
          <p:cNvSpPr txBox="1"/>
          <p:nvPr/>
        </p:nvSpPr>
        <p:spPr>
          <a:xfrm>
            <a:off x="8321040" y="4983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Diseñamos el sistema siguiendo controles concretos del Anexo A.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Exo" panose="020B0604020202020204" charset="0"/>
              </a:rPr>
              <a:t>Don't trust. Verify.</a:t>
            </a:r>
            <a:endParaRPr lang="en-US" sz="3600" dirty="0">
              <a:latin typeface="Exo" panose="020B0604020202020204" charset="0"/>
            </a:endParaRPr>
          </a:p>
        </p:txBody>
      </p:sp>
      <p:sp>
        <p:nvSpPr>
          <p:cNvPr id="4" name="Tarjeta"/>
          <p:cNvSpPr/>
          <p:nvPr/>
        </p:nvSpPr>
        <p:spPr>
          <a:xfrm>
            <a:off x="548640" y="1737360"/>
            <a:ext cx="6583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5" name="Icono Challenge 06 cubierto" descr="Challenge 06 cubier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84832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645920" y="19202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Challenge 06 cubierto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1645920" y="23957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Hechos verificados separados de interpretaciones.</a:t>
            </a:r>
            <a:endParaRPr lang="en-US" sz="1600" dirty="0"/>
          </a:p>
        </p:txBody>
      </p:sp>
      <p:sp>
        <p:nvSpPr>
          <p:cNvPr id="8" name="Tarjeta"/>
          <p:cNvSpPr/>
          <p:nvPr/>
        </p:nvSpPr>
        <p:spPr>
          <a:xfrm>
            <a:off x="548640" y="3108960"/>
            <a:ext cx="6583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9" name="Icono Lo que sigue" descr="Lo que sigu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56432"/>
            <a:ext cx="502920" cy="5029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45920" y="3291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Lo que sigue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1645920" y="37673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Más conectores, RAG y certificación real.</a:t>
            </a:r>
            <a:endParaRPr lang="en-US" sz="1600" dirty="0"/>
          </a:p>
        </p:txBody>
      </p:sp>
      <p:sp>
        <p:nvSpPr>
          <p:cNvPr id="12" name="Tarjeta"/>
          <p:cNvSpPr/>
          <p:nvPr/>
        </p:nvSpPr>
        <p:spPr>
          <a:xfrm>
            <a:off x="548640" y="4480560"/>
            <a:ext cx="6583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Espacio QR"/>
          <p:cNvSpPr/>
          <p:nvPr/>
        </p:nvSpPr>
        <p:spPr>
          <a:xfrm>
            <a:off x="868680" y="4663440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9"/>
          <p:cNvSpPr txBox="1"/>
          <p:nvPr/>
        </p:nvSpPr>
        <p:spPr>
          <a:xfrm>
            <a:off x="868680" y="4663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QR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965960" y="4663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Repo y bx-datatools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1965960" y="5120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Pregunta al jurado"/>
          <p:cNvSpPr/>
          <p:nvPr/>
        </p:nvSpPr>
        <p:spPr>
          <a:xfrm>
            <a:off x="7498080" y="1737360"/>
            <a:ext cx="4114800" cy="3931920"/>
          </a:xfrm>
          <a:prstGeom prst="roundRect">
            <a:avLst>
              <a:gd name="adj" fmla="val 2791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4"/>
          <p:cNvSpPr txBox="1"/>
          <p:nvPr/>
        </p:nvSpPr>
        <p:spPr>
          <a:xfrm>
            <a:off x="7863840" y="26517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¿</a:t>
            </a:r>
            <a:r>
              <a:rPr lang="en-US" sz="3200" b="1" dirty="0" err="1">
                <a:solidFill>
                  <a:schemeClr val="bg1"/>
                </a:solidFill>
              </a:rPr>
              <a:t>Confiarían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en</a:t>
            </a:r>
            <a:r>
              <a:rPr lang="en-US" sz="3200" b="1" dirty="0">
                <a:solidFill>
                  <a:schemeClr val="bg1"/>
                </a:solidFill>
              </a:rPr>
              <a:t> un </a:t>
            </a:r>
            <a:r>
              <a:rPr lang="en-US" sz="3200" b="1" dirty="0" err="1">
                <a:solidFill>
                  <a:schemeClr val="bg1"/>
                </a:solidFill>
              </a:rPr>
              <a:t>agente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que</a:t>
            </a:r>
            <a:r>
              <a:rPr lang="en-US" sz="3200" b="1" dirty="0">
                <a:solidFill>
                  <a:schemeClr val="bg1"/>
                </a:solidFill>
              </a:rPr>
              <a:t> no </a:t>
            </a:r>
            <a:r>
              <a:rPr lang="en-US" sz="3200" b="1" dirty="0" err="1">
                <a:solidFill>
                  <a:schemeClr val="bg1"/>
                </a:solidFill>
              </a:rPr>
              <a:t>muestra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su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razonamiento</a:t>
            </a:r>
            <a:r>
              <a:rPr lang="en-US" sz="3200" b="1" dirty="0">
                <a:solidFill>
                  <a:schemeClr val="bg1"/>
                </a:solidFill>
              </a:rPr>
              <a:t>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161E6821-AEEB-7D2D-6720-39F333607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1" y="4553339"/>
            <a:ext cx="1066799" cy="1055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eriMine">
  <a:themeElements>
    <a:clrScheme name="VeriMine">
      <a:dk1>
        <a:srgbClr val="FFFFFF"/>
      </a:dk1>
      <a:lt1>
        <a:srgbClr val="0B1220"/>
      </a:lt1>
      <a:dk2>
        <a:srgbClr val="9FB3C8"/>
      </a:dk2>
      <a:lt2>
        <a:srgbClr val="162033"/>
      </a:lt2>
      <a:accent1>
        <a:srgbClr val="00DCFF"/>
      </a:accent1>
      <a:accent2>
        <a:srgbClr val="34D399"/>
      </a:accent2>
      <a:accent3>
        <a:srgbClr val="FBBF24"/>
      </a:accent3>
      <a:accent4>
        <a:srgbClr val="F87171"/>
      </a:accent4>
      <a:accent5>
        <a:srgbClr val="24344F"/>
      </a:accent5>
      <a:accent6>
        <a:srgbClr val="7C8DA5"/>
      </a:accent6>
      <a:hlink>
        <a:srgbClr val="00DCFF"/>
      </a:hlink>
      <a:folHlink>
        <a:srgbClr val="9FB3C8"/>
      </a:folHlink>
    </a:clrScheme>
    <a:fontScheme name="VeriMin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1061</Words>
  <Application>Microsoft Office PowerPoint</Application>
  <PresentationFormat>Panorámica</PresentationFormat>
  <Paragraphs>160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Exo</vt:lpstr>
      <vt:lpstr>Fira Mono Medium</vt:lpstr>
      <vt:lpstr>VeriMine</vt:lpstr>
      <vt:lpstr>Presentación de PowerPoint</vt:lpstr>
      <vt:lpstr>Las empresas ya tienen datos</vt:lpstr>
      <vt:lpstr>Tienen datos, pero no respuestas</vt:lpstr>
      <vt:lpstr>Una IA suena convincente… aunque invente el número</vt:lpstr>
      <vt:lpstr>Ninguna cifra sin comprobarla</vt:lpstr>
      <vt:lpstr>Un equipo de agentes, no un chatbot</vt:lpstr>
      <vt:lpstr>Cuatro capas para poder confiar</vt:lpstr>
      <vt:lpstr>Así lo vamos a probar</vt:lpstr>
      <vt:lpstr>¿Qué pasa por dentro?</vt:lpstr>
      <vt:lpstr>Verificado, no prometido</vt:lpstr>
      <vt:lpstr>Seguridad basada en ISO/IEC 27001</vt:lpstr>
      <vt:lpstr>Don't trust. Verify.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VeriMine - Don't trust. Verify.</dc:title>
  <dc:subject>PptxGenJS Presentation</dc:subject>
  <dc:creator>PptxGenJS</dc:creator>
  <cp:lastModifiedBy>sergio caceres</cp:lastModifiedBy>
  <cp:revision>4</cp:revision>
  <dcterms:created xsi:type="dcterms:W3CDTF">2026-10-11T18:15:54Z</dcterms:created>
  <dcterms:modified xsi:type="dcterms:W3CDTF">2026-10-11T20:30:10Z</dcterms:modified>
</cp:coreProperties>
</file>